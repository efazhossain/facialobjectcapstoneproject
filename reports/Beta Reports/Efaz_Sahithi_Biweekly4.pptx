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82" r:id="rId7"/>
    <p:sldId id="278" r:id="rId8"/>
    <p:sldId id="283" r:id="rId9"/>
    <p:sldId id="279" r:id="rId10"/>
    <p:sldId id="284" r:id="rId11"/>
    <p:sldId id="286" r:id="rId12"/>
    <p:sldId id="287" r:id="rId13"/>
    <p:sldId id="280" r:id="rId14"/>
    <p:sldId id="288" r:id="rId15"/>
    <p:sldId id="281" r:id="rId16"/>
    <p:sldId id="289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7A7DDD-2339-21B2-0F6B-EA5FA79FE1B5}" v="43" dt="2025-03-22T19:26:10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655" autoAdjust="0"/>
  </p:normalViewPr>
  <p:slideViewPr>
    <p:cSldViewPr snapToGrid="0">
      <p:cViewPr>
        <p:scale>
          <a:sx n="80" d="100"/>
          <a:sy n="80" d="100"/>
        </p:scale>
        <p:origin x="782" y="4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faz Hossain" userId="2bfb29039e40fd5a" providerId="Windows Live" clId="Web-{D47A7DDD-2339-21B2-0F6B-EA5FA79FE1B5}"/>
    <pc:docChg chg="modSld">
      <pc:chgData name="Efaz Hossain" userId="2bfb29039e40fd5a" providerId="Windows Live" clId="Web-{D47A7DDD-2339-21B2-0F6B-EA5FA79FE1B5}" dt="2025-03-22T19:26:08.811" v="36" actId="20577"/>
      <pc:docMkLst>
        <pc:docMk/>
      </pc:docMkLst>
      <pc:sldChg chg="modSp">
        <pc:chgData name="Efaz Hossain" userId="2bfb29039e40fd5a" providerId="Windows Live" clId="Web-{D47A7DDD-2339-21B2-0F6B-EA5FA79FE1B5}" dt="2025-03-22T19:26:08.811" v="36" actId="20577"/>
        <pc:sldMkLst>
          <pc:docMk/>
          <pc:sldMk cId="2586058810" sldId="256"/>
        </pc:sldMkLst>
        <pc:spChg chg="mod">
          <ac:chgData name="Efaz Hossain" userId="2bfb29039e40fd5a" providerId="Windows Live" clId="Web-{D47A7DDD-2339-21B2-0F6B-EA5FA79FE1B5}" dt="2025-03-22T19:26:08.811" v="36" actId="20577"/>
          <ac:spMkLst>
            <pc:docMk/>
            <pc:sldMk cId="2586058810" sldId="256"/>
            <ac:spMk id="3" creationId="{166AFB61-CEBB-9FC5-DDC1-2EDE2EA27E96}"/>
          </ac:spMkLst>
        </pc:spChg>
      </pc:sldChg>
      <pc:sldChg chg="addSp delSp modSp">
        <pc:chgData name="Efaz Hossain" userId="2bfb29039e40fd5a" providerId="Windows Live" clId="Web-{D47A7DDD-2339-21B2-0F6B-EA5FA79FE1B5}" dt="2025-03-22T18:58:44.158" v="31"/>
        <pc:sldMkLst>
          <pc:docMk/>
          <pc:sldMk cId="3491891715" sldId="287"/>
        </pc:sldMkLst>
        <pc:spChg chg="mod">
          <ac:chgData name="Efaz Hossain" userId="2bfb29039e40fd5a" providerId="Windows Live" clId="Web-{D47A7DDD-2339-21B2-0F6B-EA5FA79FE1B5}" dt="2025-03-22T18:58:39.095" v="30" actId="20577"/>
          <ac:spMkLst>
            <pc:docMk/>
            <pc:sldMk cId="3491891715" sldId="287"/>
            <ac:spMk id="5" creationId="{364D7019-4364-EB8D-6954-394FD9DD3AB8}"/>
          </ac:spMkLst>
        </pc:spChg>
        <pc:spChg chg="add mod">
          <ac:chgData name="Efaz Hossain" userId="2bfb29039e40fd5a" providerId="Windows Live" clId="Web-{D47A7DDD-2339-21B2-0F6B-EA5FA79FE1B5}" dt="2025-03-22T18:58:44.158" v="31"/>
          <ac:spMkLst>
            <pc:docMk/>
            <pc:sldMk cId="3491891715" sldId="287"/>
            <ac:spMk id="8" creationId="{AA1EAD4D-CC2C-E09C-212F-FFFA195CB378}"/>
          </ac:spMkLst>
        </pc:spChg>
        <pc:picChg chg="del">
          <ac:chgData name="Efaz Hossain" userId="2bfb29039e40fd5a" providerId="Windows Live" clId="Web-{D47A7DDD-2339-21B2-0F6B-EA5FA79FE1B5}" dt="2025-03-22T18:58:44.158" v="31"/>
          <ac:picMkLst>
            <pc:docMk/>
            <pc:sldMk cId="3491891715" sldId="287"/>
            <ac:picMk id="9" creationId="{61B913BA-4D4E-A0B4-4F3F-F73ADFE5B56C}"/>
          </ac:picMkLst>
        </pc:picChg>
      </pc:sldChg>
      <pc:sldChg chg="modSp">
        <pc:chgData name="Efaz Hossain" userId="2bfb29039e40fd5a" providerId="Windows Live" clId="Web-{D47A7DDD-2339-21B2-0F6B-EA5FA79FE1B5}" dt="2025-03-22T18:56:06.909" v="23"/>
        <pc:sldMkLst>
          <pc:docMk/>
          <pc:sldMk cId="2508059220" sldId="289"/>
        </pc:sldMkLst>
        <pc:graphicFrameChg chg="mod modGraphic">
          <ac:chgData name="Efaz Hossain" userId="2bfb29039e40fd5a" providerId="Windows Live" clId="Web-{D47A7DDD-2339-21B2-0F6B-EA5FA79FE1B5}" dt="2025-03-22T18:56:06.909" v="23"/>
          <ac:graphicFrameMkLst>
            <pc:docMk/>
            <pc:sldMk cId="2508059220" sldId="289"/>
            <ac:graphicFrameMk id="12" creationId="{FFE3500A-3D19-0838-44F7-8B4EEEF217A9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3/22/2025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3/22/2025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D5F76-6F3C-7816-A3D7-9063E32CF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CCFD2F-2A1E-BD06-536D-ACB58FADA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6095B2-DBE2-2794-2930-6A8C2E0F2B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48A3B-7407-3C3C-9CE0-51E218CA52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016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D0652-00E3-B6B2-0F97-9D8BB05B0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D3C7F4-C1A9-2E69-3E2F-8A694AACE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E188EA-F1AE-22CB-AC03-0FC6D87A3B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2B9E2-76F1-14FC-1938-ACFF588D8A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0600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963B5-0728-7E7E-CB0A-EFC57DB96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9B4B3B-7C11-0651-2A8E-6FCF59345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F83E84-BFB8-95F5-A43D-4754E469DF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971AA-6EAB-509D-A59C-0525DF817C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969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openaccess.thecvf.com/content_ICCV_2019/papers/Shao_Objects365_A_Large-Scale_High-Quality_Dataset_for_Object_Detection_ICCV_2019_paper.pdf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957730"/>
          </a:xfrm>
        </p:spPr>
        <p:txBody>
          <a:bodyPr anchor="ctr"/>
          <a:lstStyle/>
          <a:p>
            <a:r>
              <a:rPr lang="en-US" dirty="0"/>
              <a:t>Project Tortoise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66AFB61-CEBB-9FC5-DDC1-2EDE2EA27E96}"/>
              </a:ext>
            </a:extLst>
          </p:cNvPr>
          <p:cNvSpPr txBox="1">
            <a:spLocks/>
          </p:cNvSpPr>
          <p:nvPr/>
        </p:nvSpPr>
        <p:spPr>
          <a:xfrm>
            <a:off x="6441918" y="4287520"/>
            <a:ext cx="4941771" cy="9577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+mn-lt"/>
              </a:rPr>
              <a:t>Object Detection framework</a:t>
            </a:r>
          </a:p>
          <a:p>
            <a:r>
              <a:rPr lang="en-US" sz="2000" dirty="0">
                <a:latin typeface="+mn-lt"/>
              </a:rPr>
              <a:t>Biweekly Update 4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2895600" cy="326958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Project Progress and Summary</a:t>
            </a:r>
          </a:p>
          <a:p>
            <a:r>
              <a:rPr lang="en-US" dirty="0"/>
              <a:t>Dataset Overview</a:t>
            </a:r>
          </a:p>
          <a:p>
            <a:r>
              <a:rPr lang="en-US" dirty="0"/>
              <a:t>Training Pipeline</a:t>
            </a:r>
          </a:p>
          <a:p>
            <a:r>
              <a:rPr lang="en-US" dirty="0"/>
              <a:t>Performance Metrics</a:t>
            </a:r>
          </a:p>
          <a:p>
            <a:r>
              <a:rPr lang="en-US" dirty="0"/>
              <a:t>Training Analysis</a:t>
            </a:r>
          </a:p>
          <a:p>
            <a:r>
              <a:rPr lang="en-US" dirty="0"/>
              <a:t>Challenges and Solutions</a:t>
            </a:r>
          </a:p>
          <a:p>
            <a:r>
              <a:rPr lang="en-US" dirty="0"/>
              <a:t>Future Plans and Key Takeaways</a:t>
            </a:r>
          </a:p>
          <a:p>
            <a:r>
              <a:rPr lang="en-US" dirty="0"/>
              <a:t>Q&amp;A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D5C98-A03C-0EF5-CDD6-FD9B21297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/>
          <a:p>
            <a:r>
              <a:rPr lang="en-US" dirty="0"/>
              <a:t>Project Progress and Summary</a:t>
            </a:r>
          </a:p>
        </p:txBody>
      </p:sp>
      <p:pic>
        <p:nvPicPr>
          <p:cNvPr id="6" name="Content Placeholder 5" descr="Colorful charts and graphs">
            <a:extLst>
              <a:ext uri="{FF2B5EF4-FFF2-40B4-BE49-F238E27FC236}">
                <a16:creationId xmlns:a16="http://schemas.microsoft.com/office/drawing/2014/main" id="{4A271780-04DC-C86C-673A-D95BF73D6D2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5555" r="21230"/>
          <a:stretch/>
        </p:blipFill>
        <p:spPr>
          <a:xfrm>
            <a:off x="-28230" y="-9144"/>
            <a:ext cx="5481955" cy="6876288"/>
          </a:xfr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46917-FDF8-CE66-07E1-56CA6E716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A0DB287-2B8B-C449-7BD0-F0CB6C94A47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453725" y="3660774"/>
            <a:ext cx="5907176" cy="2536826"/>
          </a:xfrm>
        </p:spPr>
        <p:txBody>
          <a:bodyPr>
            <a:normAutofit fontScale="70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Dataset Filtering</a:t>
            </a:r>
          </a:p>
          <a:p>
            <a:pPr marL="569214" lvl="1"/>
            <a:r>
              <a:rPr lang="en-US" dirty="0"/>
              <a:t>300 classes -&gt; 50 classes for efficiency</a:t>
            </a:r>
          </a:p>
          <a:p>
            <a:pPr marL="569214" lvl="1"/>
            <a:r>
              <a:rPr lang="en-US" dirty="0"/>
              <a:t>Updated Objects365.yaml to remove unnecessary 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Training Optimizations</a:t>
            </a:r>
          </a:p>
          <a:p>
            <a:pPr marL="569214" lvl="1"/>
            <a:r>
              <a:rPr lang="en-US" dirty="0"/>
              <a:t>Tested multiple image sizes (640 vs 512)</a:t>
            </a:r>
          </a:p>
          <a:p>
            <a:pPr marL="569214" lvl="1"/>
            <a:r>
              <a:rPr lang="en-US" dirty="0"/>
              <a:t>Implemented multi-scale training for better adaptability</a:t>
            </a:r>
          </a:p>
          <a:p>
            <a:pPr marL="569214" lvl="1"/>
            <a:r>
              <a:rPr lang="en-US" dirty="0"/>
              <a:t>Fine-tuned hyperparameters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Performance </a:t>
            </a:r>
            <a:r>
              <a:rPr lang="en-US" dirty="0" err="1"/>
              <a:t>Monitorying</a:t>
            </a:r>
            <a:endParaRPr lang="en-US" dirty="0"/>
          </a:p>
          <a:p>
            <a:pPr marL="569214" lvl="1"/>
            <a:r>
              <a:rPr lang="en-US" dirty="0"/>
              <a:t>Validation data used for tracking training progress</a:t>
            </a:r>
          </a:p>
        </p:txBody>
      </p:sp>
    </p:spTree>
    <p:extLst>
      <p:ext uri="{BB962C8B-B14F-4D97-AF65-F5344CB8AC3E}">
        <p14:creationId xmlns:p14="http://schemas.microsoft.com/office/powerpoint/2010/main" val="1898627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/>
          <a:lstStyle/>
          <a:p>
            <a:r>
              <a:rPr lang="en-US" dirty="0"/>
              <a:t>Dataset Overview</a:t>
            </a:r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00733-847F-7DD2-7BBA-0A6606B82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4159"/>
            <a:ext cx="3714750" cy="553884"/>
          </a:xfrm>
        </p:spPr>
        <p:txBody>
          <a:bodyPr anchor="b">
            <a:normAutofit/>
          </a:bodyPr>
          <a:lstStyle/>
          <a:p>
            <a:r>
              <a:rPr lang="en-US" dirty="0"/>
              <a:t>Dataset Overview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306C8-A18A-487D-3CC9-3B411035A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01096"/>
            <a:ext cx="5733772" cy="448990"/>
          </a:xfrm>
        </p:spPr>
        <p:txBody>
          <a:bodyPr anchor="ctr">
            <a:normAutofit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8948D-2477-2A6C-A410-B395A41D9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D96C08E7-9EB1-BBCF-A44D-D0C3E49AC1A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487795" y="2531683"/>
            <a:ext cx="3866005" cy="303273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Results of finetuning COCO from ImageNet vs Objects365. </a:t>
            </a:r>
          </a:p>
          <a:p>
            <a:r>
              <a:rPr lang="en-US" dirty="0"/>
              <a:t>With a small number of iterations, 90K, for training, our Objects365 pre-trained model (green curve) can significantly outperform the algorithm finetuned from ImageNet (orange curve), even with much longer training time, e.g., 540K iterations. All results use a FPN based Resnet50 backbone (Shao et al)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3A74CF-7BD6-4EBA-BFF1-8AAEFA780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450086"/>
            <a:ext cx="5610225" cy="214115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US" sz="1500" dirty="0"/>
              <a:t>Objects365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365 categories, 600k+ images, millions of bounding boxes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Used for real-world object detection training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Filtering Process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Removed less relevant classes, focusing on mainly household objects</a:t>
            </a:r>
          </a:p>
          <a:p>
            <a:pPr lvl="2">
              <a:lnSpc>
                <a:spcPct val="90000"/>
              </a:lnSpc>
            </a:pPr>
            <a:r>
              <a:rPr lang="en-US" sz="1500" dirty="0"/>
              <a:t>365 classes -&gt; 50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Restructured dataset to improve efficiency and reduce training time </a:t>
            </a:r>
          </a:p>
          <a:p>
            <a:pPr lvl="2">
              <a:lnSpc>
                <a:spcPct val="90000"/>
              </a:lnSpc>
            </a:pPr>
            <a:r>
              <a:rPr lang="en-US" sz="1500" dirty="0"/>
              <a:t>600k+ images reduced to only 10% of the original 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CD6B24-CC74-1A93-F64D-7A41813AF6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87795" y="2071993"/>
            <a:ext cx="3220135" cy="448989"/>
          </a:xfrm>
        </p:spPr>
        <p:txBody>
          <a:bodyPr anchor="ctr">
            <a:normAutofit/>
          </a:bodyPr>
          <a:lstStyle/>
          <a:p>
            <a:r>
              <a:rPr lang="en-US" dirty="0"/>
              <a:t>Original Paper Results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3A2CECC-ED21-DD06-1618-54262DE78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7" y="3696014"/>
            <a:ext cx="4734609" cy="259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215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94F2A-D225-511D-8A04-DAC567359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BB0AF-C5CB-EF78-178D-CCF5772216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/>
          <a:lstStyle/>
          <a:p>
            <a:r>
              <a:rPr lang="en-US" dirty="0"/>
              <a:t>Training Pipeline, Performance Metrics and Analysis</a:t>
            </a:r>
          </a:p>
        </p:txBody>
      </p:sp>
    </p:spTree>
    <p:extLst>
      <p:ext uri="{BB962C8B-B14F-4D97-AF65-F5344CB8AC3E}">
        <p14:creationId xmlns:p14="http://schemas.microsoft.com/office/powerpoint/2010/main" val="561578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941AB-B631-FC19-AAEC-C17A846C6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Pipeline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C688D9-357E-5D98-514D-89501822E9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Breakdown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5AF92B8-DAC1-61CB-9E9B-BEF8E5807D22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Dataset Preprocessing</a:t>
            </a:r>
          </a:p>
          <a:p>
            <a:pPr lvl="1"/>
            <a:r>
              <a:rPr lang="en-US" dirty="0"/>
              <a:t>Data filtering and restructuring</a:t>
            </a:r>
          </a:p>
          <a:p>
            <a:r>
              <a:rPr lang="en-US" dirty="0"/>
              <a:t>Model Selection</a:t>
            </a:r>
          </a:p>
          <a:p>
            <a:pPr lvl="1"/>
            <a:r>
              <a:rPr lang="en-US" dirty="0"/>
              <a:t>YOLO11 Nano vs Small</a:t>
            </a:r>
          </a:p>
          <a:p>
            <a:r>
              <a:rPr lang="en-US" dirty="0"/>
              <a:t>Training Strategy</a:t>
            </a:r>
          </a:p>
          <a:p>
            <a:pPr lvl="1"/>
            <a:r>
              <a:rPr lang="en-US" dirty="0"/>
              <a:t>Image resizing, multi-scale training, batch </a:t>
            </a:r>
            <a:r>
              <a:rPr lang="en-US" dirty="0" err="1"/>
              <a:t>optimzation</a:t>
            </a:r>
            <a:endParaRPr lang="en-US" dirty="0"/>
          </a:p>
          <a:p>
            <a:r>
              <a:rPr lang="en-US" dirty="0"/>
              <a:t>Performance Monitoring</a:t>
            </a:r>
          </a:p>
          <a:p>
            <a:pPr lvl="1"/>
            <a:r>
              <a:rPr lang="en-US" dirty="0" err="1"/>
              <a:t>mAP</a:t>
            </a:r>
            <a:r>
              <a:rPr lang="en-US" dirty="0"/>
              <a:t>, Precision, Recall tracking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B67FF13-D9A2-5242-41A2-249BFB82D25E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Pipeline Flowchart</a:t>
            </a:r>
          </a:p>
        </p:txBody>
      </p:sp>
      <p:pic>
        <p:nvPicPr>
          <p:cNvPr id="11" name="Content Placeholder 10" descr="A diagram of a training pipeline&#10;&#10;AI-generated content may be incorrect.">
            <a:extLst>
              <a:ext uri="{FF2B5EF4-FFF2-40B4-BE49-F238E27FC236}">
                <a16:creationId xmlns:a16="http://schemas.microsoft.com/office/drawing/2014/main" id="{6E82EDCF-891F-4DF7-698C-B172566022E7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2"/>
          <a:stretch>
            <a:fillRect/>
          </a:stretch>
        </p:blipFill>
        <p:spPr>
          <a:xfrm>
            <a:off x="5449291" y="3324225"/>
            <a:ext cx="4117581" cy="303212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D530FD-4276-0657-38E6-7DAE115C979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342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7BF26-616F-F881-1945-F1301AAC3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DD0FC-5819-1D80-A2E4-623FC8589F22}"/>
              </a:ext>
            </a:extLst>
          </p:cNvPr>
          <p:cNvSpPr>
            <a:spLocks noGrp="1"/>
          </p:cNvSpPr>
          <p:nvPr>
            <p:ph sz="half" idx="16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Massive improvements compared to previous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Close to 15% improvement on scores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7.5% increase on individual model difference (YOLO8 -&gt; YOLO11)</a:t>
            </a:r>
          </a:p>
        </p:txBody>
      </p:sp>
      <p:graphicFrame>
        <p:nvGraphicFramePr>
          <p:cNvPr id="6" name="Table Placeholder 5">
            <a:extLst>
              <a:ext uri="{FF2B5EF4-FFF2-40B4-BE49-F238E27FC236}">
                <a16:creationId xmlns:a16="http://schemas.microsoft.com/office/drawing/2014/main" id="{1D6655CA-F95F-125A-A58B-27343669B3C3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658146961"/>
              </p:ext>
            </p:extLst>
          </p:nvPr>
        </p:nvGraphicFramePr>
        <p:xfrm>
          <a:off x="4216400" y="895350"/>
          <a:ext cx="7137399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79133">
                  <a:extLst>
                    <a:ext uri="{9D8B030D-6E8A-4147-A177-3AD203B41FA5}">
                      <a16:colId xmlns:a16="http://schemas.microsoft.com/office/drawing/2014/main" val="1182189471"/>
                    </a:ext>
                  </a:extLst>
                </a:gridCol>
                <a:gridCol w="2379133">
                  <a:extLst>
                    <a:ext uri="{9D8B030D-6E8A-4147-A177-3AD203B41FA5}">
                      <a16:colId xmlns:a16="http://schemas.microsoft.com/office/drawing/2014/main" val="3791227060"/>
                    </a:ext>
                  </a:extLst>
                </a:gridCol>
                <a:gridCol w="2379133">
                  <a:extLst>
                    <a:ext uri="{9D8B030D-6E8A-4147-A177-3AD203B41FA5}">
                      <a16:colId xmlns:a16="http://schemas.microsoft.com/office/drawing/2014/main" val="22776154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YOLO11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YOLO11 Tuned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743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mAP@50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0.5555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0.5970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865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mAP@50-95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366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0.6187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0.6420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9486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0.6362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0.6580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800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0.5458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0.5685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427907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BF2571-0BF9-1468-1ED1-CF051DF8A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Picture 7" descr="A graph with blue lines&#10;&#10;AI-generated content may be incorrect.">
            <a:extLst>
              <a:ext uri="{FF2B5EF4-FFF2-40B4-BE49-F238E27FC236}">
                <a16:creationId xmlns:a16="http://schemas.microsoft.com/office/drawing/2014/main" id="{200D5A89-78FA-7E5A-9185-897A7C91D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400" y="3178485"/>
            <a:ext cx="4480568" cy="3360426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410589A7-AFC5-5247-145A-64949FC54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7506" y="3131414"/>
            <a:ext cx="2399446" cy="3407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3449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4A2EB-9720-E016-6313-97091531E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8EB31-CC0D-A032-87E7-C28F85D59A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Analysis Points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235BA-36C8-29AE-2E21-94C36C2A60B9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Training Stability</a:t>
            </a:r>
          </a:p>
          <a:p>
            <a:pPr lvl="1"/>
            <a:r>
              <a:rPr lang="en-US" dirty="0"/>
              <a:t>Training/Validation loss trends analyzed</a:t>
            </a:r>
          </a:p>
          <a:p>
            <a:pPr lvl="1"/>
            <a:r>
              <a:rPr lang="en-US" dirty="0"/>
              <a:t>Improvements from batch size &amp; learning rate tuning</a:t>
            </a:r>
          </a:p>
          <a:p>
            <a:r>
              <a:rPr lang="en-US" dirty="0"/>
              <a:t>Training Time Reduction</a:t>
            </a:r>
          </a:p>
          <a:p>
            <a:pPr lvl="1"/>
            <a:r>
              <a:rPr lang="en-US" dirty="0"/>
              <a:t>Epoch times reduced by 20% using optimization and dataset filtering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4D7019-4364-EB8D-6954-394FD9DD3AB8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/>
              <a:t>Training/Loss Metric Graph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C8319A-1B0D-6A68-5EAF-D41233E0A34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A1EAD4D-CC2C-E09C-212F-FFFA195CB378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891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B3BB3-81A8-0744-577C-D0D8A436B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43FC7-C6B3-C6CC-31E2-7B7279507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/>
          <a:lstStyle/>
          <a:p>
            <a:r>
              <a:rPr lang="en-US" dirty="0"/>
              <a:t>Challenges and Solutions</a:t>
            </a:r>
          </a:p>
        </p:txBody>
      </p:sp>
    </p:spTree>
    <p:extLst>
      <p:ext uri="{BB962C8B-B14F-4D97-AF65-F5344CB8AC3E}">
        <p14:creationId xmlns:p14="http://schemas.microsoft.com/office/powerpoint/2010/main" val="3433829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D08FC-5DC6-2D30-996E-1B43B537A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and 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FF42BE-BEEA-74FB-B588-04D559DC99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Challenges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B72F99-9FF8-49A8-109A-E0EC87DE367D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r>
              <a:rPr lang="en-US" dirty="0"/>
              <a:t>Long Training Times</a:t>
            </a:r>
          </a:p>
          <a:p>
            <a:r>
              <a:rPr lang="en-US" dirty="0"/>
              <a:t>High GPU Memory Usage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D1721F-6357-40CF-6486-1EF84992851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Solutions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0DBC7B-A999-0D10-71DA-881C404B3B50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>
            <a:normAutofit fontScale="775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To deal with long training times…</a:t>
            </a:r>
          </a:p>
          <a:p>
            <a:pPr marL="626364" lvl="1" indent="-342900">
              <a:buFont typeface="+mj-lt"/>
              <a:buAutoNum type="arabicPeriod"/>
            </a:pPr>
            <a:r>
              <a:rPr lang="en-US" dirty="0"/>
              <a:t>Image Size reduced (640x640 -&gt; 512x512)</a:t>
            </a:r>
          </a:p>
          <a:p>
            <a:pPr marL="626364" lvl="1" indent="-342900">
              <a:buFont typeface="+mj-lt"/>
              <a:buAutoNum type="arabicPeriod"/>
            </a:pPr>
            <a:r>
              <a:rPr lang="en-US" dirty="0"/>
              <a:t>Optimized Batch size (32 -&gt; 16)</a:t>
            </a:r>
          </a:p>
          <a:p>
            <a:pPr marL="626364" lvl="1" indent="-342900">
              <a:buFont typeface="+mj-lt"/>
              <a:buAutoNum type="arabicPeriod"/>
            </a:pPr>
            <a:r>
              <a:rPr lang="en-US" dirty="0"/>
              <a:t>Epochs adjusted (150 -&gt; 100)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To deal with high GPU memory usage…</a:t>
            </a:r>
          </a:p>
          <a:p>
            <a:pPr marL="626364" lvl="1" indent="-342900">
              <a:buFont typeface="+mj-lt"/>
              <a:buAutoNum type="arabicPeriod"/>
            </a:pPr>
            <a:r>
              <a:rPr lang="en-US" dirty="0"/>
              <a:t>Enabled mixed precision and multi-scale training</a:t>
            </a:r>
          </a:p>
          <a:p>
            <a:pPr marL="909828" lvl="2" indent="-342900">
              <a:buFont typeface="+mj-lt"/>
              <a:buAutoNum type="arabicPeriod"/>
            </a:pPr>
            <a:r>
              <a:rPr lang="en-US" dirty="0"/>
              <a:t>Mixed precision uses 16-bit/32-bit floating point precision to reduce memory usage and speed up computation</a:t>
            </a:r>
          </a:p>
          <a:p>
            <a:pPr marL="909828" lvl="2" indent="-342900">
              <a:buFont typeface="+mj-lt"/>
              <a:buAutoNum type="arabicPeriod"/>
            </a:pPr>
            <a:r>
              <a:rPr lang="en-US" dirty="0"/>
              <a:t>Multi-Scale Training randomly resizes input images to improve model robustness across different sizes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BDC6AD-0230-FA7B-34D0-54B2575AAB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255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FA90B-E58B-A229-157E-CDA6AC5DD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714CE-63A6-2437-850F-065C419A8B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/>
          <a:lstStyle/>
          <a:p>
            <a:r>
              <a:rPr lang="en-US" dirty="0"/>
              <a:t>Future Plans and Key Takeaways</a:t>
            </a:r>
          </a:p>
        </p:txBody>
      </p:sp>
    </p:spTree>
    <p:extLst>
      <p:ext uri="{BB962C8B-B14F-4D97-AF65-F5344CB8AC3E}">
        <p14:creationId xmlns:p14="http://schemas.microsoft.com/office/powerpoint/2010/main" val="2424677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5E702-96DA-2949-7A68-177896EF1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Plans and Key Takeaways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8C1F9-202D-4236-1499-BA23BF8ED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of Progress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82CED5-CAE8-F639-471E-210B89DC09B1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Successfully optimized YOLO11 on Objects365</a:t>
            </a:r>
          </a:p>
          <a:p>
            <a:r>
              <a:rPr lang="en-US" dirty="0"/>
              <a:t>Performance improved by 7.5% (mAP@50) after tuning</a:t>
            </a:r>
          </a:p>
          <a:p>
            <a:r>
              <a:rPr lang="en-US" dirty="0"/>
              <a:t>Overcoming challenges through preprocessing, augmentation and hyperparameter tuning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0F91DA-A339-0EDF-4E3A-9EF3DA35BEBC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Summary Performance Metrics As Of Now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78B69-BC7E-816B-78E7-66EB6582CA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FFE3500A-3D19-0838-44F7-8B4EEEF217A9}"/>
              </a:ext>
            </a:extLst>
          </p:cNvPr>
          <p:cNvGraphicFramePr>
            <a:graphicFrameLocks noGrp="1"/>
          </p:cNvGraphicFramePr>
          <p:nvPr>
            <p:ph sz="half" idx="14"/>
            <p:extLst>
              <p:ext uri="{D42A27DB-BD31-4B8C-83A1-F6EECF244321}">
                <p14:modId xmlns:p14="http://schemas.microsoft.com/office/powerpoint/2010/main" val="786950224"/>
              </p:ext>
            </p:extLst>
          </p:nvPr>
        </p:nvGraphicFramePr>
        <p:xfrm>
          <a:off x="4754562" y="3324225"/>
          <a:ext cx="6096320" cy="305216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24080">
                  <a:extLst>
                    <a:ext uri="{9D8B030D-6E8A-4147-A177-3AD203B41FA5}">
                      <a16:colId xmlns:a16="http://schemas.microsoft.com/office/drawing/2014/main" val="727955644"/>
                    </a:ext>
                  </a:extLst>
                </a:gridCol>
                <a:gridCol w="1524080">
                  <a:extLst>
                    <a:ext uri="{9D8B030D-6E8A-4147-A177-3AD203B41FA5}">
                      <a16:colId xmlns:a16="http://schemas.microsoft.com/office/drawing/2014/main" val="356398277"/>
                    </a:ext>
                  </a:extLst>
                </a:gridCol>
                <a:gridCol w="1524080">
                  <a:extLst>
                    <a:ext uri="{9D8B030D-6E8A-4147-A177-3AD203B41FA5}">
                      <a16:colId xmlns:a16="http://schemas.microsoft.com/office/drawing/2014/main" val="3846359491"/>
                    </a:ext>
                  </a:extLst>
                </a:gridCol>
                <a:gridCol w="1524080">
                  <a:extLst>
                    <a:ext uri="{9D8B030D-6E8A-4147-A177-3AD203B41FA5}">
                      <a16:colId xmlns:a16="http://schemas.microsoft.com/office/drawing/2014/main" val="1299562375"/>
                    </a:ext>
                  </a:extLst>
                </a:gridCol>
              </a:tblGrid>
              <a:tr h="505944">
                <a:tc>
                  <a:txBody>
                    <a:bodyPr/>
                    <a:lstStyle/>
                    <a:p>
                      <a:r>
                        <a:rPr lang="en-US" sz="1600" dirty="0"/>
                        <a:t>Metric</a:t>
                      </a:r>
                    </a:p>
                  </a:txBody>
                  <a:tcPr marL="85535" marR="85535" marT="42768" marB="4276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YOLO11 (Base)</a:t>
                      </a:r>
                    </a:p>
                  </a:txBody>
                  <a:tcPr marL="85535" marR="85535" marT="42768" marB="4276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YOLO11n</a:t>
                      </a:r>
                    </a:p>
                  </a:txBody>
                  <a:tcPr marL="85535" marR="85535" marT="42768" marB="4276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YOLO11s</a:t>
                      </a:r>
                    </a:p>
                  </a:txBody>
                  <a:tcPr marL="85535" marR="85535" marT="42768" marB="42768"/>
                </a:tc>
                <a:extLst>
                  <a:ext uri="{0D108BD9-81ED-4DB2-BD59-A6C34878D82A}">
                    <a16:rowId xmlns:a16="http://schemas.microsoft.com/office/drawing/2014/main" val="1961391063"/>
                  </a:ext>
                </a:extLst>
              </a:tr>
              <a:tr h="293125">
                <a:tc>
                  <a:txBody>
                    <a:bodyPr/>
                    <a:lstStyle/>
                    <a:p>
                      <a:r>
                        <a:rPr lang="en-US" sz="1600" dirty="0"/>
                        <a:t>mAP@50</a:t>
                      </a:r>
                    </a:p>
                  </a:txBody>
                  <a:tcPr marL="85535" marR="85535" marT="42768" marB="4276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0.5555</a:t>
                      </a:r>
                    </a:p>
                  </a:txBody>
                  <a:tcPr marL="85535" marR="85535" marT="42768" marB="4276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0.5971</a:t>
                      </a:r>
                    </a:p>
                  </a:txBody>
                  <a:tcPr marL="85535" marR="85535" marT="42768" marB="4276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0.615</a:t>
                      </a:r>
                    </a:p>
                  </a:txBody>
                  <a:tcPr marL="85535" marR="85535" marT="42768" marB="42768"/>
                </a:tc>
                <a:extLst>
                  <a:ext uri="{0D108BD9-81ED-4DB2-BD59-A6C34878D82A}">
                    <a16:rowId xmlns:a16="http://schemas.microsoft.com/office/drawing/2014/main" val="2699077270"/>
                  </a:ext>
                </a:extLst>
              </a:tr>
              <a:tr h="505944">
                <a:tc>
                  <a:txBody>
                    <a:bodyPr/>
                    <a:lstStyle/>
                    <a:p>
                      <a:r>
                        <a:rPr lang="en-US" sz="1600" dirty="0"/>
                        <a:t>mAP@50-95</a:t>
                      </a:r>
                    </a:p>
                  </a:txBody>
                  <a:tcPr marL="85535" marR="85535" marT="42768" marB="4276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0.4255</a:t>
                      </a:r>
                    </a:p>
                  </a:txBody>
                  <a:tcPr marL="85535" marR="85535" marT="42768" marB="4276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0.4522</a:t>
                      </a:r>
                    </a:p>
                  </a:txBody>
                  <a:tcPr marL="85535" marR="85535" marT="42768" marB="4276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0.4785</a:t>
                      </a:r>
                    </a:p>
                  </a:txBody>
                  <a:tcPr marL="85535" marR="85535" marT="42768" marB="42768"/>
                </a:tc>
                <a:extLst>
                  <a:ext uri="{0D108BD9-81ED-4DB2-BD59-A6C34878D82A}">
                    <a16:rowId xmlns:a16="http://schemas.microsoft.com/office/drawing/2014/main" val="4177133344"/>
                  </a:ext>
                </a:extLst>
              </a:tr>
              <a:tr h="293125">
                <a:tc>
                  <a:txBody>
                    <a:bodyPr/>
                    <a:lstStyle/>
                    <a:p>
                      <a:r>
                        <a:rPr lang="en-US" sz="1600" dirty="0"/>
                        <a:t>Precision</a:t>
                      </a:r>
                    </a:p>
                  </a:txBody>
                  <a:tcPr marL="85535" marR="85535" marT="42768" marB="4276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0.6187</a:t>
                      </a:r>
                    </a:p>
                  </a:txBody>
                  <a:tcPr marL="85535" marR="85535" marT="42768" marB="4276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0.6423</a:t>
                      </a:r>
                    </a:p>
                  </a:txBody>
                  <a:tcPr marL="85535" marR="85535" marT="42768" marB="4276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0.6605</a:t>
                      </a:r>
                    </a:p>
                  </a:txBody>
                  <a:tcPr marL="85535" marR="85535" marT="42768" marB="42768"/>
                </a:tc>
                <a:extLst>
                  <a:ext uri="{0D108BD9-81ED-4DB2-BD59-A6C34878D82A}">
                    <a16:rowId xmlns:a16="http://schemas.microsoft.com/office/drawing/2014/main" val="1285247449"/>
                  </a:ext>
                </a:extLst>
              </a:tr>
              <a:tr h="293125">
                <a:tc>
                  <a:txBody>
                    <a:bodyPr/>
                    <a:lstStyle/>
                    <a:p>
                      <a:r>
                        <a:rPr lang="en-US" sz="1600" dirty="0"/>
                        <a:t>Recall</a:t>
                      </a:r>
                    </a:p>
                  </a:txBody>
                  <a:tcPr marL="85535" marR="85535" marT="42768" marB="4276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0.6362</a:t>
                      </a:r>
                    </a:p>
                  </a:txBody>
                  <a:tcPr marL="85535" marR="85535" marT="42768" marB="4276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0.6584</a:t>
                      </a:r>
                    </a:p>
                  </a:txBody>
                  <a:tcPr marL="85535" marR="85535" marT="42768" marB="4276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0.6755</a:t>
                      </a:r>
                    </a:p>
                  </a:txBody>
                  <a:tcPr marL="85535" marR="85535" marT="42768" marB="42768"/>
                </a:tc>
                <a:extLst>
                  <a:ext uri="{0D108BD9-81ED-4DB2-BD59-A6C34878D82A}">
                    <a16:rowId xmlns:a16="http://schemas.microsoft.com/office/drawing/2014/main" val="4044702809"/>
                  </a:ext>
                </a:extLst>
              </a:tr>
              <a:tr h="293125">
                <a:tc>
                  <a:txBody>
                    <a:bodyPr/>
                    <a:lstStyle/>
                    <a:p>
                      <a:r>
                        <a:rPr lang="en-US" sz="1600" dirty="0"/>
                        <a:t>F1-Score</a:t>
                      </a:r>
                    </a:p>
                  </a:txBody>
                  <a:tcPr marL="85535" marR="85535" marT="42768" marB="4276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0.5458</a:t>
                      </a:r>
                    </a:p>
                  </a:txBody>
                  <a:tcPr marL="85535" marR="85535" marT="42768" marB="4276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0.5685</a:t>
                      </a:r>
                    </a:p>
                  </a:txBody>
                  <a:tcPr marL="85535" marR="85535" marT="42768" marB="4276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0.5812</a:t>
                      </a:r>
                    </a:p>
                  </a:txBody>
                  <a:tcPr marL="85535" marR="85535" marT="42768" marB="42768"/>
                </a:tc>
                <a:extLst>
                  <a:ext uri="{0D108BD9-81ED-4DB2-BD59-A6C34878D82A}">
                    <a16:rowId xmlns:a16="http://schemas.microsoft.com/office/drawing/2014/main" val="4081367876"/>
                  </a:ext>
                </a:extLst>
              </a:tr>
              <a:tr h="722776">
                <a:tc>
                  <a:txBody>
                    <a:bodyPr/>
                    <a:lstStyle/>
                    <a:p>
                      <a:r>
                        <a:rPr lang="en-US" sz="1600" dirty="0"/>
                        <a:t>Training Time per Epoch</a:t>
                      </a:r>
                    </a:p>
                  </a:txBody>
                  <a:tcPr marL="85535" marR="85535" marT="42768" marB="4276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12 mins</a:t>
                      </a:r>
                    </a:p>
                  </a:txBody>
                  <a:tcPr marL="85535" marR="85535" marT="42768" marB="4276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9.5 min</a:t>
                      </a:r>
                    </a:p>
                  </a:txBody>
                  <a:tcPr marL="85535" marR="85535" marT="42768" marB="4276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 min</a:t>
                      </a:r>
                    </a:p>
                  </a:txBody>
                  <a:tcPr marL="85535" marR="85535" marT="42768" marB="42768"/>
                </a:tc>
                <a:extLst>
                  <a:ext uri="{0D108BD9-81ED-4DB2-BD59-A6C34878D82A}">
                    <a16:rowId xmlns:a16="http://schemas.microsoft.com/office/drawing/2014/main" val="2331825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8059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850181"/>
          </a:xfrm>
        </p:spPr>
        <p:txBody>
          <a:bodyPr>
            <a:noAutofit/>
          </a:bodyPr>
          <a:lstStyle/>
          <a:p>
            <a:r>
              <a:rPr lang="en-US" dirty="0"/>
              <a:t>Any questions?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BF3EA2-BF79-D411-E6FA-30CE69ED6D13}"/>
              </a:ext>
            </a:extLst>
          </p:cNvPr>
          <p:cNvSpPr txBox="1"/>
          <p:nvPr/>
        </p:nvSpPr>
        <p:spPr>
          <a:xfrm>
            <a:off x="7762874" y="4569392"/>
            <a:ext cx="38004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chemeClr val="bg1"/>
                </a:solidFill>
                <a:effectLst/>
                <a:latin typeface="-apple-syste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Original Paper:</a:t>
            </a:r>
          </a:p>
          <a:p>
            <a:r>
              <a:rPr lang="en-US" b="0" i="0" u="none" strike="noStrike" dirty="0">
                <a:solidFill>
                  <a:schemeClr val="accent5"/>
                </a:solidFill>
                <a:effectLst/>
                <a:latin typeface="-apple-syste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Objects365: A Large-scale, High-quality Dataset for Object Detection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b="0" i="0" dirty="0">
                <a:solidFill>
                  <a:schemeClr val="bg1"/>
                </a:solidFill>
                <a:effectLst/>
                <a:latin typeface="-apple-system"/>
              </a:rPr>
              <a:t>Shuai Shao,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-apple-system"/>
              </a:rPr>
              <a:t>Zeming</a:t>
            </a:r>
            <a:r>
              <a:rPr lang="en-US" b="0" i="0" dirty="0">
                <a:solidFill>
                  <a:schemeClr val="bg1"/>
                </a:solidFill>
                <a:effectLst/>
                <a:latin typeface="-apple-system"/>
              </a:rPr>
              <a:t> Li,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-apple-system"/>
              </a:rPr>
              <a:t>Tianyuan</a:t>
            </a:r>
            <a:r>
              <a:rPr lang="en-US" b="0" i="0" dirty="0">
                <a:solidFill>
                  <a:schemeClr val="bg1"/>
                </a:solidFill>
                <a:effectLst/>
                <a:latin typeface="-apple-system"/>
              </a:rPr>
              <a:t> Zhang, Chao Peng, Gang Yu, Jing Li,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-apple-system"/>
              </a:rPr>
              <a:t>Xiangyu</a:t>
            </a:r>
            <a:r>
              <a:rPr lang="en-US" b="0" i="0" dirty="0">
                <a:solidFill>
                  <a:schemeClr val="bg1"/>
                </a:solidFill>
                <a:effectLst/>
                <a:latin typeface="-apple-system"/>
              </a:rPr>
              <a:t> Zhang, Jian Sun ICCV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{1EE8257A-85FA-4C09-B1E0-B29E42DE72D0}tf67328976_win32</Template>
  <TotalTime>70</TotalTime>
  <Words>583</Words>
  <Application>Microsoft Office PowerPoint</Application>
  <PresentationFormat>Widescreen</PresentationFormat>
  <Paragraphs>146</Paragraphs>
  <Slides>14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Custom</vt:lpstr>
      <vt:lpstr>Project Tortoise</vt:lpstr>
      <vt:lpstr>AGENDA</vt:lpstr>
      <vt:lpstr>Project Progress and Summary</vt:lpstr>
      <vt:lpstr>Dataset Overview</vt:lpstr>
      <vt:lpstr>Dataset Overview</vt:lpstr>
      <vt:lpstr>Training Pipeline, Performance Metrics and Analysis</vt:lpstr>
      <vt:lpstr>Training Pipeline</vt:lpstr>
      <vt:lpstr>Performance Metrics</vt:lpstr>
      <vt:lpstr>Performance Analysis</vt:lpstr>
      <vt:lpstr>Challenges and Solutions</vt:lpstr>
      <vt:lpstr>Challenges and Solution</vt:lpstr>
      <vt:lpstr>Future Plans and Key Takeaways</vt:lpstr>
      <vt:lpstr>Future Plans and Key Takeaways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Hossain, Efaz</dc:creator>
  <cp:lastModifiedBy>Hossain, Efaz</cp:lastModifiedBy>
  <cp:revision>10</cp:revision>
  <dcterms:created xsi:type="dcterms:W3CDTF">2025-03-19T20:32:18Z</dcterms:created>
  <dcterms:modified xsi:type="dcterms:W3CDTF">2025-03-22T19:26:15Z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