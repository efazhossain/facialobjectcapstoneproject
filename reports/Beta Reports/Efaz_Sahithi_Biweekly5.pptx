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72" r:id="rId7"/>
    <p:sldId id="279" r:id="rId8"/>
    <p:sldId id="273" r:id="rId9"/>
    <p:sldId id="282" r:id="rId10"/>
    <p:sldId id="280" r:id="rId11"/>
    <p:sldId id="281" r:id="rId12"/>
    <p:sldId id="274" r:id="rId13"/>
    <p:sldId id="283" r:id="rId14"/>
    <p:sldId id="275" r:id="rId15"/>
    <p:sldId id="287" r:id="rId16"/>
    <p:sldId id="284" r:id="rId17"/>
    <p:sldId id="276" r:id="rId18"/>
    <p:sldId id="286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6FB73-90DC-4638-BF4B-7F801125AC7F}" v="1" dt="2025-04-03T02:48:20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695" autoAdjust="0"/>
  </p:normalViewPr>
  <p:slideViewPr>
    <p:cSldViewPr snapToGrid="0">
      <p:cViewPr varScale="1">
        <p:scale>
          <a:sx n="48" d="100"/>
          <a:sy n="48" d="100"/>
        </p:scale>
        <p:origin x="67" y="634"/>
      </p:cViewPr>
      <p:guideLst/>
    </p:cSldViewPr>
  </p:slideViewPr>
  <p:outlineViewPr>
    <p:cViewPr>
      <p:scale>
        <a:sx n="33" d="100"/>
        <a:sy n="33" d="100"/>
      </p:scale>
      <p:origin x="0" y="-1243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az Hossain" userId="2bfb29039e40fd5a" providerId="LiveId" clId="{ACB0F867-5D08-41E2-9FED-C5049444BE05}"/>
    <pc:docChg chg="undo custSel modSld">
      <pc:chgData name="Efaz Hossain" userId="2bfb29039e40fd5a" providerId="LiveId" clId="{ACB0F867-5D08-41E2-9FED-C5049444BE05}" dt="2025-04-02T20:16:47.651" v="189" actId="20577"/>
      <pc:docMkLst>
        <pc:docMk/>
      </pc:docMkLst>
      <pc:sldChg chg="addSp modSp mod">
        <pc:chgData name="Efaz Hossain" userId="2bfb29039e40fd5a" providerId="LiveId" clId="{ACB0F867-5D08-41E2-9FED-C5049444BE05}" dt="2025-04-02T20:11:33.668" v="122" actId="1076"/>
        <pc:sldMkLst>
          <pc:docMk/>
          <pc:sldMk cId="2586058810" sldId="256"/>
        </pc:sldMkLst>
        <pc:spChg chg="mod">
          <ac:chgData name="Efaz Hossain" userId="2bfb29039e40fd5a" providerId="LiveId" clId="{ACB0F867-5D08-41E2-9FED-C5049444BE05}" dt="2025-04-02T20:11:24.939" v="121" actId="1076"/>
          <ac:spMkLst>
            <pc:docMk/>
            <pc:sldMk cId="2586058810" sldId="256"/>
            <ac:spMk id="2" creationId="{CFE75451-6A4B-484B-9ED1-353CCE25B0F4}"/>
          </ac:spMkLst>
        </pc:spChg>
        <pc:spChg chg="add mod">
          <ac:chgData name="Efaz Hossain" userId="2bfb29039e40fd5a" providerId="LiveId" clId="{ACB0F867-5D08-41E2-9FED-C5049444BE05}" dt="2025-04-02T20:11:22.241" v="120" actId="14100"/>
          <ac:spMkLst>
            <pc:docMk/>
            <pc:sldMk cId="2586058810" sldId="256"/>
            <ac:spMk id="3" creationId="{B2E3E3BA-CAC9-B778-4ED5-DADE346DE438}"/>
          </ac:spMkLst>
        </pc:spChg>
        <pc:spChg chg="add mod">
          <ac:chgData name="Efaz Hossain" userId="2bfb29039e40fd5a" providerId="LiveId" clId="{ACB0F867-5D08-41E2-9FED-C5049444BE05}" dt="2025-04-02T20:11:33.668" v="122" actId="1076"/>
          <ac:spMkLst>
            <pc:docMk/>
            <pc:sldMk cId="2586058810" sldId="256"/>
            <ac:spMk id="4" creationId="{4A01491C-39D7-293E-9AC9-A68270BD10AC}"/>
          </ac:spMkLst>
        </pc:spChg>
      </pc:sldChg>
      <pc:sldChg chg="modSp mod">
        <pc:chgData name="Efaz Hossain" userId="2bfb29039e40fd5a" providerId="LiveId" clId="{ACB0F867-5D08-41E2-9FED-C5049444BE05}" dt="2025-04-02T20:12:13.340" v="162" actId="27636"/>
        <pc:sldMkLst>
          <pc:docMk/>
          <pc:sldMk cId="136310780" sldId="279"/>
        </pc:sldMkLst>
        <pc:spChg chg="mod">
          <ac:chgData name="Efaz Hossain" userId="2bfb29039e40fd5a" providerId="LiveId" clId="{ACB0F867-5D08-41E2-9FED-C5049444BE05}" dt="2025-04-02T20:12:13.340" v="162" actId="27636"/>
          <ac:spMkLst>
            <pc:docMk/>
            <pc:sldMk cId="136310780" sldId="279"/>
            <ac:spMk id="6" creationId="{58300903-3DBF-C4C7-097A-2DC76F3CE4F9}"/>
          </ac:spMkLst>
        </pc:spChg>
      </pc:sldChg>
      <pc:sldChg chg="modSp mod">
        <pc:chgData name="Efaz Hossain" userId="2bfb29039e40fd5a" providerId="LiveId" clId="{ACB0F867-5D08-41E2-9FED-C5049444BE05}" dt="2025-04-02T20:16:47.651" v="189" actId="20577"/>
        <pc:sldMkLst>
          <pc:docMk/>
          <pc:sldMk cId="2685562222" sldId="281"/>
        </pc:sldMkLst>
        <pc:spChg chg="mod">
          <ac:chgData name="Efaz Hossain" userId="2bfb29039e40fd5a" providerId="LiveId" clId="{ACB0F867-5D08-41E2-9FED-C5049444BE05}" dt="2025-04-02T20:15:51.887" v="179" actId="12"/>
          <ac:spMkLst>
            <pc:docMk/>
            <pc:sldMk cId="2685562222" sldId="281"/>
            <ac:spMk id="3" creationId="{15085D6D-BC82-DAA5-5344-90AD134F8406}"/>
          </ac:spMkLst>
        </pc:spChg>
        <pc:graphicFrameChg chg="mod modGraphic">
          <ac:chgData name="Efaz Hossain" userId="2bfb29039e40fd5a" providerId="LiveId" clId="{ACB0F867-5D08-41E2-9FED-C5049444BE05}" dt="2025-04-02T20:16:47.651" v="189" actId="20577"/>
          <ac:graphicFrameMkLst>
            <pc:docMk/>
            <pc:sldMk cId="2685562222" sldId="281"/>
            <ac:graphicFrameMk id="6" creationId="{8BF50EC3-E079-199F-05E6-C5CE6CE6AAFB}"/>
          </ac:graphicFrameMkLst>
        </pc:graphicFrameChg>
        <pc:picChg chg="mod">
          <ac:chgData name="Efaz Hossain" userId="2bfb29039e40fd5a" providerId="LiveId" clId="{ACB0F867-5D08-41E2-9FED-C5049444BE05}" dt="2025-04-02T20:16:11.936" v="183" actId="14100"/>
          <ac:picMkLst>
            <pc:docMk/>
            <pc:sldMk cId="2685562222" sldId="281"/>
            <ac:picMk id="8" creationId="{FA4C55A1-4E6D-5A15-0327-99939FB029C0}"/>
          </ac:picMkLst>
        </pc:picChg>
      </pc:sldChg>
    </pc:docChg>
  </pc:docChgLst>
  <pc:docChgLst>
    <pc:chgData name="Efaz Hossain" userId="2bfb29039e40fd5a" providerId="LiveId" clId="{A846FB73-90DC-4638-BF4B-7F801125AC7F}"/>
    <pc:docChg chg="custSel addSld delSld modSld sldOrd">
      <pc:chgData name="Efaz Hossain" userId="2bfb29039e40fd5a" providerId="LiveId" clId="{A846FB73-90DC-4638-BF4B-7F801125AC7F}" dt="2025-04-07T19:52:48.797" v="836" actId="20577"/>
      <pc:docMkLst>
        <pc:docMk/>
      </pc:docMkLst>
      <pc:sldChg chg="modSp mod">
        <pc:chgData name="Efaz Hossain" userId="2bfb29039e40fd5a" providerId="LiveId" clId="{A846FB73-90DC-4638-BF4B-7F801125AC7F}" dt="2025-04-03T02:48:53.345" v="44" actId="27636"/>
        <pc:sldMkLst>
          <pc:docMk/>
          <pc:sldMk cId="1713219598" sldId="257"/>
        </pc:sldMkLst>
        <pc:spChg chg="mod">
          <ac:chgData name="Efaz Hossain" userId="2bfb29039e40fd5a" providerId="LiveId" clId="{A846FB73-90DC-4638-BF4B-7F801125AC7F}" dt="2025-04-03T02:48:53.345" v="44" actId="27636"/>
          <ac:spMkLst>
            <pc:docMk/>
            <pc:sldMk cId="1713219598" sldId="257"/>
            <ac:spMk id="3" creationId="{5671D7E5-EF66-4BCD-8DAA-E9061157F0BE}"/>
          </ac:spMkLst>
        </pc:spChg>
      </pc:sldChg>
      <pc:sldChg chg="del">
        <pc:chgData name="Efaz Hossain" userId="2bfb29039e40fd5a" providerId="LiveId" clId="{A846FB73-90DC-4638-BF4B-7F801125AC7F}" dt="2025-04-03T02:48:49.617" v="42" actId="47"/>
        <pc:sldMkLst>
          <pc:docMk/>
          <pc:sldMk cId="2780059001" sldId="278"/>
        </pc:sldMkLst>
      </pc:sldChg>
      <pc:sldChg chg="addSp delSp modSp del mod">
        <pc:chgData name="Efaz Hossain" userId="2bfb29039e40fd5a" providerId="LiveId" clId="{A846FB73-90DC-4638-BF4B-7F801125AC7F}" dt="2025-04-03T02:48:48.519" v="41" actId="47"/>
        <pc:sldMkLst>
          <pc:docMk/>
          <pc:sldMk cId="1482049119" sldId="285"/>
        </pc:sldMkLst>
      </pc:sldChg>
      <pc:sldChg chg="modSp new mod ord">
        <pc:chgData name="Efaz Hossain" userId="2bfb29039e40fd5a" providerId="LiveId" clId="{A846FB73-90DC-4638-BF4B-7F801125AC7F}" dt="2025-04-07T19:52:48.797" v="836" actId="20577"/>
        <pc:sldMkLst>
          <pc:docMk/>
          <pc:sldMk cId="4260134981" sldId="287"/>
        </pc:sldMkLst>
        <pc:spChg chg="mod">
          <ac:chgData name="Efaz Hossain" userId="2bfb29039e40fd5a" providerId="LiveId" clId="{A846FB73-90DC-4638-BF4B-7F801125AC7F}" dt="2025-04-07T19:48:21.429" v="106" actId="20577"/>
          <ac:spMkLst>
            <pc:docMk/>
            <pc:sldMk cId="4260134981" sldId="287"/>
            <ac:spMk id="2" creationId="{0E8CFA5D-A89D-E1B5-DDF3-47AF8B13232E}"/>
          </ac:spMkLst>
        </pc:spChg>
        <pc:spChg chg="mod">
          <ac:chgData name="Efaz Hossain" userId="2bfb29039e40fd5a" providerId="LiveId" clId="{A846FB73-90DC-4638-BF4B-7F801125AC7F}" dt="2025-04-07T19:50:15.474" v="117" actId="20577"/>
          <ac:spMkLst>
            <pc:docMk/>
            <pc:sldMk cId="4260134981" sldId="287"/>
            <ac:spMk id="3" creationId="{17612009-D016-2EA3-07F9-A9A8DC1D8475}"/>
          </ac:spMkLst>
        </pc:spChg>
        <pc:spChg chg="mod">
          <ac:chgData name="Efaz Hossain" userId="2bfb29039e40fd5a" providerId="LiveId" clId="{A846FB73-90DC-4638-BF4B-7F801125AC7F}" dt="2025-04-07T19:51:23.080" v="469" actId="20577"/>
          <ac:spMkLst>
            <pc:docMk/>
            <pc:sldMk cId="4260134981" sldId="287"/>
            <ac:spMk id="4" creationId="{268E70B0-58FA-0CA7-059B-44871E3FF142}"/>
          </ac:spMkLst>
        </pc:spChg>
        <pc:spChg chg="mod">
          <ac:chgData name="Efaz Hossain" userId="2bfb29039e40fd5a" providerId="LiveId" clId="{A846FB73-90DC-4638-BF4B-7F801125AC7F}" dt="2025-04-07T19:51:48.881" v="512" actId="20577"/>
          <ac:spMkLst>
            <pc:docMk/>
            <pc:sldMk cId="4260134981" sldId="287"/>
            <ac:spMk id="5" creationId="{F998506C-EB68-DE43-6E03-D4163E09DEA0}"/>
          </ac:spMkLst>
        </pc:spChg>
        <pc:spChg chg="mod">
          <ac:chgData name="Efaz Hossain" userId="2bfb29039e40fd5a" providerId="LiveId" clId="{A846FB73-90DC-4638-BF4B-7F801125AC7F}" dt="2025-04-07T19:52:48.797" v="836" actId="20577"/>
          <ac:spMkLst>
            <pc:docMk/>
            <pc:sldMk cId="4260134981" sldId="287"/>
            <ac:spMk id="6" creationId="{B6D35DB2-8545-72D6-871D-BB6E6B092B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2727" y="3329790"/>
            <a:ext cx="4533710" cy="1595136"/>
          </a:xfrm>
        </p:spPr>
        <p:txBody>
          <a:bodyPr anchor="ctr"/>
          <a:lstStyle/>
          <a:p>
            <a:r>
              <a:rPr lang="en-US" dirty="0"/>
              <a:t>Project Tortoise: Object Detection Framework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E3E3BA-CAC9-B778-4ED5-DADE346DE438}"/>
              </a:ext>
            </a:extLst>
          </p:cNvPr>
          <p:cNvSpPr txBox="1">
            <a:spLocks/>
          </p:cNvSpPr>
          <p:nvPr/>
        </p:nvSpPr>
        <p:spPr>
          <a:xfrm>
            <a:off x="6712727" y="4924926"/>
            <a:ext cx="3008790" cy="10586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Efaz Hossain</a:t>
            </a:r>
          </a:p>
          <a:p>
            <a:r>
              <a:rPr lang="en-US" sz="2400" dirty="0"/>
              <a:t>Sahithi Mutyala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01491C-39D7-293E-9AC9-A68270BD10AC}"/>
              </a:ext>
            </a:extLst>
          </p:cNvPr>
          <p:cNvSpPr txBox="1">
            <a:spLocks/>
          </p:cNvSpPr>
          <p:nvPr/>
        </p:nvSpPr>
        <p:spPr>
          <a:xfrm>
            <a:off x="10203791" y="5983536"/>
            <a:ext cx="1988209" cy="10586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Biweekly 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16" y="1020445"/>
            <a:ext cx="3651584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2674013"/>
            <a:ext cx="3651584" cy="3269589"/>
          </a:xfrm>
        </p:spPr>
        <p:txBody>
          <a:bodyPr>
            <a:normAutofit/>
          </a:bodyPr>
          <a:lstStyle/>
          <a:p>
            <a:r>
              <a:rPr lang="en-US" dirty="0"/>
              <a:t>Project Summary</a:t>
            </a:r>
          </a:p>
          <a:p>
            <a:r>
              <a:rPr lang="en-US" dirty="0"/>
              <a:t>Key Improvements/Achievements</a:t>
            </a:r>
          </a:p>
          <a:p>
            <a:r>
              <a:rPr lang="en-US" dirty="0"/>
              <a:t>Performance Comparison</a:t>
            </a:r>
          </a:p>
          <a:p>
            <a:r>
              <a:rPr lang="en-US" dirty="0"/>
              <a:t>Challenges and Solutions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Next Steps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450B-015E-B67C-253E-163A528E3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359807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A09B-71A0-7142-874C-37D765FC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C6F42-0384-A09F-C02F-D2F6F28F6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TLDR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3BEF0-017B-9FC0-8C08-F44973B2FB6D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Limited dataset to patch 0 (train 0, </a:t>
            </a:r>
            <a:r>
              <a:rPr lang="en-US" dirty="0" err="1"/>
              <a:t>val</a:t>
            </a:r>
            <a:r>
              <a:rPr lang="en-US" dirty="0"/>
              <a:t> 0 and test 0)</a:t>
            </a:r>
          </a:p>
          <a:p>
            <a:r>
              <a:rPr lang="en-US" dirty="0"/>
              <a:t>COCO-style annotations for train/</a:t>
            </a:r>
            <a:r>
              <a:rPr lang="en-US" dirty="0" err="1"/>
              <a:t>val</a:t>
            </a:r>
            <a:r>
              <a:rPr lang="en-US" dirty="0"/>
              <a:t> sets via custom Python script</a:t>
            </a:r>
          </a:p>
          <a:p>
            <a:r>
              <a:rPr lang="en-US" dirty="0"/>
              <a:t>Tested on YOLO11n and YOLO11s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6EDCB-6154-336F-ED9A-0D79929E4BC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00903-3DBF-C4C7-097A-2DC76F3CE4F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7248066" cy="303148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Scope was refined by limiting dataset to patch 0, which allowed for faster experimentation and reduced storage and computational footprint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COCO-style annotations for the two splits were generated automatically via a Python script and seamlessly integrated within the training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Model training was followed by multiple rounds of tuning, which led to improvements in </a:t>
            </a:r>
            <a:r>
              <a:rPr lang="en-US" dirty="0" err="1"/>
              <a:t>mAP</a:t>
            </a:r>
            <a:r>
              <a:rPr lang="en-US" dirty="0"/>
              <a:t>(50, 50-95)/Precision/Recall/F1-Score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Exploration into deployment by exporting models into ONNX and </a:t>
            </a:r>
            <a:r>
              <a:rPr lang="en-US" dirty="0" err="1"/>
              <a:t>TorchScript</a:t>
            </a:r>
            <a:r>
              <a:rPr lang="en-US" dirty="0"/>
              <a:t> formats and utilizing AWS and watch notification integration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D9472-07A7-1170-A77C-ACC25C96A1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F734-E3A7-43D0-E5AE-314185722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F9497-E37F-2E2C-63E9-4276DF0C4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503060"/>
            <a:ext cx="4179570" cy="3377354"/>
          </a:xfrm>
        </p:spPr>
        <p:txBody>
          <a:bodyPr/>
          <a:lstStyle/>
          <a:p>
            <a:r>
              <a:rPr lang="en-US" dirty="0"/>
              <a:t>Key improvements and achievements</a:t>
            </a:r>
          </a:p>
        </p:txBody>
      </p:sp>
    </p:spTree>
    <p:extLst>
      <p:ext uri="{BB962C8B-B14F-4D97-AF65-F5344CB8AC3E}">
        <p14:creationId xmlns:p14="http://schemas.microsoft.com/office/powerpoint/2010/main" val="84567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1391C-4F59-375D-D7B2-F7A72082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031D-CD2F-DBCE-BE15-3CA6B6B5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Improvements and Achievements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D9CAF-9C17-A089-8D85-4E68E9F3C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236BE-AFB5-792F-D8ED-A741E6BC15F4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Original pipeline involved using 25% of the original 712 GB and restricted only 5% of the original dataset for usage</a:t>
            </a:r>
          </a:p>
          <a:p>
            <a:r>
              <a:rPr lang="en-US" dirty="0"/>
              <a:t> Parsed COCO-format annotation files</a:t>
            </a:r>
          </a:p>
          <a:p>
            <a:r>
              <a:rPr lang="en-US" dirty="0"/>
              <a:t>Generated YOLO-compatible labels using </a:t>
            </a:r>
            <a:r>
              <a:rPr lang="en-US" dirty="0" err="1"/>
              <a:t>pycocotools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A5B27-CCC9-8505-84E6-C9FDE47A335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Achievements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0892C-C744-C0BE-DD95-60B555375F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56943"/>
            <a:ext cx="5506720" cy="30314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both tuned YOLO11n and YOLO11s models on the filtered dataset and improved detection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Reconsidered using all 365 object classes which SIGNIFICANTLY improved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Addressed multiple YAML and extraction-related errors by replacing shell-based tar commands with Python-based extraction methods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F9545-C4EB-88BE-8DB7-5FC732085E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46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2C56-12A2-4094-8936-A1E745C4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3746-CBE5-A03B-3A0C-2C2E3283B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503060"/>
            <a:ext cx="4179570" cy="3377354"/>
          </a:xfrm>
        </p:spPr>
        <p:txBody>
          <a:bodyPr/>
          <a:lstStyle/>
          <a:p>
            <a:r>
              <a:rPr lang="en-US" dirty="0"/>
              <a:t>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415634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A476-9D4F-281B-C903-2CA57B13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85D6D-BC82-DAA5-5344-90AD134F840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807670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YOLO11n (baseline) started with </a:t>
            </a:r>
            <a:r>
              <a:rPr lang="en-US" sz="1100" b="1" dirty="0"/>
              <a:t>mAP@50 of 0.5555</a:t>
            </a:r>
            <a:r>
              <a:rPr lang="en-US" sz="1100" dirty="0"/>
              <a:t>, showing solid initial performance on household object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After tuning, YOLO11n improved to </a:t>
            </a:r>
            <a:r>
              <a:rPr lang="en-US" sz="1100" b="1" dirty="0"/>
              <a:t>mAP@50 of 0.5970</a:t>
            </a:r>
            <a:r>
              <a:rPr lang="en-US" sz="1100" dirty="0"/>
              <a:t> and </a:t>
            </a:r>
            <a:r>
              <a:rPr lang="en-US" sz="1100" b="1" dirty="0"/>
              <a:t>F1-Score of 0.5685</a:t>
            </a:r>
            <a:r>
              <a:rPr lang="en-US" sz="1100" dirty="0"/>
              <a:t>, indicating better precision-recall balance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YOLO11s outperformed both setups with </a:t>
            </a:r>
            <a:r>
              <a:rPr lang="en-US" sz="1100" b="1" dirty="0"/>
              <a:t>mAP@50 of 0.6251</a:t>
            </a:r>
            <a:r>
              <a:rPr lang="en-US" sz="1100" dirty="0"/>
              <a:t> and </a:t>
            </a:r>
            <a:r>
              <a:rPr lang="en-US" sz="1100" b="1" dirty="0"/>
              <a:t>F1-Score of 0.6120</a:t>
            </a:r>
            <a:r>
              <a:rPr lang="en-US" sz="1100" dirty="0"/>
              <a:t>, becoming the final deployed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Precision and recall also improved steadily across model upgrades, showing enhanced detection consistency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Each training iteration led to a </a:t>
            </a:r>
            <a:r>
              <a:rPr lang="en-US" sz="1100" b="1" dirty="0"/>
              <a:t>reduction in time per epoch</a:t>
            </a:r>
            <a:r>
              <a:rPr lang="en-US" sz="1100" dirty="0"/>
              <a:t> (from 12 min to 8.5 min), improving training 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YOLO11s was selected for deployment due to its balance of accuracy, speed, and robustness on real-world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8BF50EC3-E079-199F-05E6-C5CE6CE6AAFB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52624788"/>
              </p:ext>
            </p:extLst>
          </p:nvPr>
        </p:nvGraphicFramePr>
        <p:xfrm>
          <a:off x="4937514" y="895350"/>
          <a:ext cx="5929612" cy="23816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2403">
                  <a:extLst>
                    <a:ext uri="{9D8B030D-6E8A-4147-A177-3AD203B41FA5}">
                      <a16:colId xmlns:a16="http://schemas.microsoft.com/office/drawing/2014/main" val="1255178777"/>
                    </a:ext>
                  </a:extLst>
                </a:gridCol>
                <a:gridCol w="1482403">
                  <a:extLst>
                    <a:ext uri="{9D8B030D-6E8A-4147-A177-3AD203B41FA5}">
                      <a16:colId xmlns:a16="http://schemas.microsoft.com/office/drawing/2014/main" val="3592884640"/>
                    </a:ext>
                  </a:extLst>
                </a:gridCol>
                <a:gridCol w="1482403">
                  <a:extLst>
                    <a:ext uri="{9D8B030D-6E8A-4147-A177-3AD203B41FA5}">
                      <a16:colId xmlns:a16="http://schemas.microsoft.com/office/drawing/2014/main" val="3531685448"/>
                    </a:ext>
                  </a:extLst>
                </a:gridCol>
                <a:gridCol w="1482403">
                  <a:extLst>
                    <a:ext uri="{9D8B030D-6E8A-4147-A177-3AD203B41FA5}">
                      <a16:colId xmlns:a16="http://schemas.microsoft.com/office/drawing/2014/main" val="2623314202"/>
                    </a:ext>
                  </a:extLst>
                </a:gridCol>
              </a:tblGrid>
              <a:tr h="531766">
                <a:tc>
                  <a:txBody>
                    <a:bodyPr/>
                    <a:lstStyle/>
                    <a:p>
                      <a:r>
                        <a:rPr lang="en-US" sz="1500" dirty="0"/>
                        <a:t>Metric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YOLO11 Base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YOLO11n (2x Tuned)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YOLO11s (2x Tuned)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1492609317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mAP@50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0.5555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0.6070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0.6251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2810017485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mAP@50-95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0.4255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0.5832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0.5847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589910604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Precision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0.6187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0.6420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0.6714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1464311930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Recall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0.6362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0.6580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0.6902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12757500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F1-Score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0.5458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0.5885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0.6120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351953747"/>
                  </a:ext>
                </a:extLst>
              </a:tr>
              <a:tr h="308087">
                <a:tc>
                  <a:txBody>
                    <a:bodyPr/>
                    <a:lstStyle/>
                    <a:p>
                      <a:r>
                        <a:rPr lang="en-US" sz="1500" dirty="0"/>
                        <a:t>Time/epoch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12 min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9.5 min</a:t>
                      </a:r>
                    </a:p>
                  </a:txBody>
                  <a:tcPr marL="75967" marR="75967" marT="37983" marB="3798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8.5 min</a:t>
                      </a:r>
                    </a:p>
                  </a:txBody>
                  <a:tcPr marL="75967" marR="75967" marT="37983" marB="37983"/>
                </a:tc>
                <a:extLst>
                  <a:ext uri="{0D108BD9-81ED-4DB2-BD59-A6C34878D82A}">
                    <a16:rowId xmlns:a16="http://schemas.microsoft.com/office/drawing/2014/main" val="62772614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5FB40-AA4E-691D-7D5E-2FEEDB0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A4C55A1-4E6D-5A15-0327-99939FB0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656" y="3580963"/>
            <a:ext cx="5381694" cy="322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6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CC5F9-0CCC-36C4-E57E-7CED05FB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1C4E-6200-DEF4-06A3-A0310356D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70976"/>
            <a:ext cx="4179570" cy="3377354"/>
          </a:xfrm>
        </p:spPr>
        <p:txBody>
          <a:bodyPr/>
          <a:lstStyle/>
          <a:p>
            <a:r>
              <a:rPr lang="en-US" dirty="0"/>
              <a:t>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12084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C957-27F3-051F-02F2-A11F7FA2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33ED-1E7D-B8D9-83CB-B08D5E0E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73A0C-7E9B-8579-1355-E13E438AF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B11AF-9B65-D268-4E4F-F1A5DB0F17B9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Incompatibility of tar extraction within YAML execution pipeline</a:t>
            </a:r>
          </a:p>
          <a:p>
            <a:r>
              <a:rPr lang="en-US" dirty="0"/>
              <a:t>Relevant Label File generation</a:t>
            </a:r>
          </a:p>
          <a:p>
            <a:r>
              <a:rPr lang="en-US" dirty="0"/>
              <a:t>Big Dataset Reduction For Efficiency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B1E77-244E-4A0C-6B2C-3E937E3467A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5C565-99BD-1B13-A5BC-B7477621B13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Shell-based extraction was replaced with Python’s tarfile module to improve portability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Addressed by validating image existence before generating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focusing on patch 0 only, the data imbalance and training overhead were reduced, allowing easier iterations and testing new model configurations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DC9C0-738D-FF16-DD43-43C0123AE5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956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49AF-0DD3-CE46-6073-C8B52B0A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FFDA-CA31-5AD6-ABB5-B792460E58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4702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FA5D-A89D-E1B5-DDF3-47AF8B13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12009-D016-2EA3-07F9-A9A8DC1D8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TorchScript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E70B0-58FA-0CA7-059B-44871E3FF14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Developed by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Allows models to be serialized and ran independently of Python</a:t>
            </a:r>
          </a:p>
          <a:p>
            <a:r>
              <a:rPr lang="en-US" dirty="0"/>
              <a:t>Supports just-in-time (JIT) compilation for faster inference</a:t>
            </a:r>
          </a:p>
          <a:p>
            <a:r>
              <a:rPr lang="en-US" dirty="0"/>
              <a:t>Ideal for Py-Torch and custom APIs (Flask)</a:t>
            </a:r>
          </a:p>
          <a:p>
            <a:r>
              <a:rPr lang="en-US" dirty="0"/>
              <a:t>Compatible with mobile apps, embedded devices and C++ runtimes</a:t>
            </a:r>
          </a:p>
          <a:p>
            <a:r>
              <a:rPr lang="en-US" dirty="0"/>
              <a:t>Easier transition from training in </a:t>
            </a:r>
            <a:r>
              <a:rPr lang="en-US" dirty="0" err="1"/>
              <a:t>PyTorch</a:t>
            </a:r>
            <a:r>
              <a:rPr lang="en-US" dirty="0"/>
              <a:t> to deployment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8506C-EB68-DE43-6E03-D4163E09DEA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ONNX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35DB2-8545-72D6-871D-BB6E6B092BE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Open Neural Network Exchange (ONNX)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 open standard supported by many frameworks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Enables cross-platform compatibility across tools/runtimes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Optimized for edge devices, cloud inference and mobile apps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Works with high-performance runtimes like ONNX Runtime, </a:t>
            </a:r>
            <a:r>
              <a:rPr lang="en-US" dirty="0" err="1"/>
              <a:t>TensorRT</a:t>
            </a:r>
            <a:r>
              <a:rPr lang="en-US" dirty="0"/>
              <a:t> and </a:t>
            </a:r>
            <a:r>
              <a:rPr lang="en-US" dirty="0" err="1"/>
              <a:t>OpenVINO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Ideal when deploying models outside </a:t>
            </a:r>
            <a:r>
              <a:rPr lang="en-US" dirty="0" err="1"/>
              <a:t>PyTorch</a:t>
            </a:r>
            <a:r>
              <a:rPr lang="en-US"/>
              <a:t> ecosystem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746C3-73C5-0BEA-E072-C93028498F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3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13C2-100C-3E77-605B-7DAB86FC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/>
          <a:p>
            <a:r>
              <a:rPr lang="en-US" dirty="0"/>
              <a:t>Deployment Prep</a:t>
            </a:r>
          </a:p>
        </p:txBody>
      </p:sp>
      <p:pic>
        <p:nvPicPr>
          <p:cNvPr id="1028" name="Picture 4" descr="Deployment - Free seo and web icons">
            <a:extLst>
              <a:ext uri="{FF2B5EF4-FFF2-40B4-BE49-F238E27FC236}">
                <a16:creationId xmlns:a16="http://schemas.microsoft.com/office/drawing/2014/main" id="{CFF24B43-78CA-410D-DC0F-10ADB67E3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1" r="10137" b="2"/>
          <a:stretch/>
        </p:blipFill>
        <p:spPr bwMode="auto"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4F89F-4649-48B1-1175-D81C0D5E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13A180-608F-FB98-DA2C-222F385F61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500"/>
              <a:t>Exporting YOLO11s model to ONNX and TorchScript formats for compatibility with various deployment environments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500"/>
              <a:t>Evaluating inference speed using smaller batch sizes and optimized image resolutions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500"/>
              <a:t>Testing trained model on a small custom video stream to validate robustness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500"/>
              <a:t>Beginning development of a lightweight inference script with OpenCV to demonstrate real-time detection</a:t>
            </a:r>
          </a:p>
        </p:txBody>
      </p:sp>
    </p:spTree>
    <p:extLst>
      <p:ext uri="{BB962C8B-B14F-4D97-AF65-F5344CB8AC3E}">
        <p14:creationId xmlns:p14="http://schemas.microsoft.com/office/powerpoint/2010/main" val="284786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AD52-4A0A-6505-5C90-10A1F389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51BE-471E-7281-E326-180D91733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287250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94AB-260F-6060-FDF8-E7FF9CE2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A5EB-1E3B-9E96-80DB-95928C51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1EC3E-29F5-242C-404E-138551D28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763C7-E622-0A2F-6641-CBA5B2693F0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Continue benchmarking YOLO11s and compare against YOLO12 (if possible) under same dataset conditions</a:t>
            </a:r>
          </a:p>
          <a:p>
            <a:r>
              <a:rPr lang="en-US" dirty="0"/>
              <a:t>Complete inference script with real-time webcam and video stream testing</a:t>
            </a:r>
          </a:p>
          <a:p>
            <a:r>
              <a:rPr lang="en-US" dirty="0"/>
              <a:t>Package training scrips, model weights and evaluation utilities into a reproducible pipeline</a:t>
            </a:r>
          </a:p>
          <a:p>
            <a:r>
              <a:rPr lang="en-US" dirty="0"/>
              <a:t>Began preparing final presentation visuals/report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824A4-EDF0-9423-C5EA-AE43BBE28D6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C3CC2-762E-4520-CE00-81EFB4EA258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The project is on track with a clean dataset structure, strong training baselines, and clear direction for deployment. This round of improvements not only enhanced model performance but also laid the groundwork for a fully operational inference pipeline.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544E3-86AE-DFDF-E793-310A0601B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7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Any 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{0AC1926D-3676-4267-BD7F-09EB2F5D1A35}tf67328976_win32</Template>
  <TotalTime>53</TotalTime>
  <Words>732</Words>
  <Application>Microsoft Office PowerPoint</Application>
  <PresentationFormat>Widescreen</PresentationFormat>
  <Paragraphs>122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Custom</vt:lpstr>
      <vt:lpstr>Project Tortoise: Object Detection Framework</vt:lpstr>
      <vt:lpstr>AGENDA</vt:lpstr>
      <vt:lpstr>Project Summary</vt:lpstr>
      <vt:lpstr>Current progress</vt:lpstr>
      <vt:lpstr>Key improvements and achievements</vt:lpstr>
      <vt:lpstr>Key Improvements and Achievements</vt:lpstr>
      <vt:lpstr>Performance Comparison</vt:lpstr>
      <vt:lpstr>Performance Comparison</vt:lpstr>
      <vt:lpstr>Challenges and Solutions</vt:lpstr>
      <vt:lpstr>Challenges and Solutions</vt:lpstr>
      <vt:lpstr>Deployment</vt:lpstr>
      <vt:lpstr>Deployment Pipelines</vt:lpstr>
      <vt:lpstr>Deployment Prep</vt:lpstr>
      <vt:lpstr>Next Steps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Efaz Hossain</dc:creator>
  <cp:lastModifiedBy>Efaz Hossain</cp:lastModifiedBy>
  <cp:revision>1</cp:revision>
  <dcterms:created xsi:type="dcterms:W3CDTF">2025-04-02T19:30:22Z</dcterms:created>
  <dcterms:modified xsi:type="dcterms:W3CDTF">2025-04-07T19:52:56Z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